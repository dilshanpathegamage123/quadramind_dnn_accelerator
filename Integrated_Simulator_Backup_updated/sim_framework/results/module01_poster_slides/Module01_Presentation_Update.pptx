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4D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rIns="365760"/>
          <a:lstStyle/>
          <a:p>
            <a:pPr algn="l"/>
            <a:r>
              <a:rPr sz="3000" b="1">
                <a:solidFill>
                  <a:srgbClr val="FFFFFF"/>
                </a:solidFill>
              </a:rPr>
              <a:t>How the Work Fits Together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84048" y="1463040"/>
            <a:ext cx="1783080" cy="1508760"/>
          </a:xfrm>
          <a:prstGeom prst="roundRect">
            <a:avLst/>
          </a:prstGeom>
          <a:solidFill>
            <a:srgbClr val="E8EFF8"/>
          </a:solidFill>
          <a:ln w="15875">
            <a:solidFill>
              <a:srgbClr val="0B4D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1572768"/>
            <a:ext cx="178308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0B4DA2"/>
                </a:solidFill>
              </a:rPr>
              <a:t>1. BUILD</a:t>
            </a:r>
          </a:p>
          <a:p>
            <a:pPr algn="ctr">
              <a:spcBef>
                <a:spcPts val="400"/>
              </a:spcBef>
            </a:pPr>
            <a:r>
              <a:rPr sz="1200">
                <a:solidFill>
                  <a:srgbClr val="12355B"/>
                </a:solidFill>
              </a:rPr>
              <a:t>27 selectable</a:t>
            </a:r>
            <a:br/>
            <a:r>
              <a:rPr sz="1200">
                <a:solidFill>
                  <a:srgbClr val="12355B"/>
                </a:solidFill>
              </a:rPr>
              <a:t>RTL configurations</a:t>
            </a:r>
          </a:p>
        </p:txBody>
      </p:sp>
      <p:sp>
        <p:nvSpPr>
          <p:cNvPr id="5" name="Can 4"/>
          <p:cNvSpPr/>
          <p:nvPr/>
        </p:nvSpPr>
        <p:spPr>
          <a:xfrm>
            <a:off x="2176272" y="2084832"/>
            <a:ext cx="109728" cy="274320"/>
          </a:xfrm>
          <a:prstGeom prst="can">
            <a:avLst/>
          </a:prstGeom>
          <a:solidFill>
            <a:srgbClr val="5A66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295144" y="1463040"/>
            <a:ext cx="1783080" cy="1508760"/>
          </a:xfrm>
          <a:prstGeom prst="roundRect">
            <a:avLst/>
          </a:prstGeom>
          <a:solidFill>
            <a:srgbClr val="E8EFF8"/>
          </a:solidFill>
          <a:ln w="15875">
            <a:solidFill>
              <a:srgbClr val="0F7B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295144" y="1572768"/>
            <a:ext cx="178308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0F7B6C"/>
                </a:solidFill>
              </a:rPr>
              <a:t>2. VERIFY</a:t>
            </a:r>
          </a:p>
          <a:p>
            <a:pPr algn="ctr">
              <a:spcBef>
                <a:spcPts val="400"/>
              </a:spcBef>
            </a:pPr>
            <a:r>
              <a:rPr sz="1200">
                <a:solidFill>
                  <a:srgbClr val="12355B"/>
                </a:solidFill>
              </a:rPr>
              <a:t>RTL vs TensorFlow</a:t>
            </a:r>
            <a:br/>
            <a:r>
              <a:rPr sz="1200">
                <a:solidFill>
                  <a:srgbClr val="12355B"/>
                </a:solidFill>
              </a:rPr>
              <a:t>golden reference</a:t>
            </a:r>
          </a:p>
        </p:txBody>
      </p:sp>
      <p:sp>
        <p:nvSpPr>
          <p:cNvPr id="8" name="Can 7"/>
          <p:cNvSpPr/>
          <p:nvPr/>
        </p:nvSpPr>
        <p:spPr>
          <a:xfrm>
            <a:off x="4087368" y="2084832"/>
            <a:ext cx="109728" cy="274320"/>
          </a:xfrm>
          <a:prstGeom prst="can">
            <a:avLst/>
          </a:prstGeom>
          <a:solidFill>
            <a:srgbClr val="5A66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206240" y="1463040"/>
            <a:ext cx="1783080" cy="1508760"/>
          </a:xfrm>
          <a:prstGeom prst="roundRect">
            <a:avLst/>
          </a:prstGeom>
          <a:solidFill>
            <a:srgbClr val="E8EFF8"/>
          </a:solidFill>
          <a:ln w="15875">
            <a:solidFill>
              <a:srgbClr val="0F7B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06240" y="1572768"/>
            <a:ext cx="178308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0F7B6C"/>
                </a:solidFill>
              </a:rPr>
              <a:t>3. MEASURE</a:t>
            </a:r>
          </a:p>
          <a:p>
            <a:pPr algn="ctr">
              <a:spcBef>
                <a:spcPts val="400"/>
              </a:spcBef>
            </a:pPr>
            <a:r>
              <a:rPr sz="1200">
                <a:solidFill>
                  <a:srgbClr val="12355B"/>
                </a:solidFill>
              </a:rPr>
              <a:t>Beats, bursts and</a:t>
            </a:r>
            <a:br/>
            <a:r>
              <a:rPr sz="1200">
                <a:solidFill>
                  <a:srgbClr val="12355B"/>
                </a:solidFill>
              </a:rPr>
              <a:t>cycles per knob</a:t>
            </a:r>
          </a:p>
        </p:txBody>
      </p:sp>
      <p:sp>
        <p:nvSpPr>
          <p:cNvPr id="11" name="Can 10"/>
          <p:cNvSpPr/>
          <p:nvPr/>
        </p:nvSpPr>
        <p:spPr>
          <a:xfrm>
            <a:off x="5998464" y="2084832"/>
            <a:ext cx="109728" cy="274320"/>
          </a:xfrm>
          <a:prstGeom prst="can">
            <a:avLst/>
          </a:prstGeom>
          <a:solidFill>
            <a:srgbClr val="5A66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117336" y="1463040"/>
            <a:ext cx="1783080" cy="1508760"/>
          </a:xfrm>
          <a:prstGeom prst="roundRect">
            <a:avLst/>
          </a:prstGeom>
          <a:solidFill>
            <a:srgbClr val="E8EFF8"/>
          </a:solidFill>
          <a:ln w="15875">
            <a:solidFill>
              <a:srgbClr val="0B4D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17336" y="1572768"/>
            <a:ext cx="178308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0B4DA2"/>
                </a:solidFill>
              </a:rPr>
              <a:t>4. MODEL</a:t>
            </a:r>
          </a:p>
          <a:p>
            <a:pPr algn="ctr">
              <a:spcBef>
                <a:spcPts val="400"/>
              </a:spcBef>
            </a:pPr>
            <a:r>
              <a:rPr sz="1200">
                <a:solidFill>
                  <a:srgbClr val="12355B"/>
                </a:solidFill>
              </a:rPr>
              <a:t>Derive the</a:t>
            </a:r>
            <a:br/>
            <a:r>
              <a:rPr sz="1200">
                <a:solidFill>
                  <a:srgbClr val="12355B"/>
                </a:solidFill>
              </a:rPr>
              <a:t>cycle equation</a:t>
            </a:r>
          </a:p>
        </p:txBody>
      </p:sp>
      <p:sp>
        <p:nvSpPr>
          <p:cNvPr id="14" name="Can 13"/>
          <p:cNvSpPr/>
          <p:nvPr/>
        </p:nvSpPr>
        <p:spPr>
          <a:xfrm>
            <a:off x="7909560" y="2084832"/>
            <a:ext cx="109728" cy="274320"/>
          </a:xfrm>
          <a:prstGeom prst="can">
            <a:avLst/>
          </a:prstGeom>
          <a:solidFill>
            <a:srgbClr val="5A66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028432" y="1463040"/>
            <a:ext cx="1783080" cy="1508760"/>
          </a:xfrm>
          <a:prstGeom prst="roundRect">
            <a:avLst/>
          </a:prstGeom>
          <a:solidFill>
            <a:srgbClr val="E8EFF8"/>
          </a:solidFill>
          <a:ln w="15875">
            <a:solidFill>
              <a:srgbClr val="0F7B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28432" y="1572768"/>
            <a:ext cx="178308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0F7B6C"/>
                </a:solidFill>
              </a:rPr>
              <a:t>5. CHECK</a:t>
            </a:r>
          </a:p>
          <a:p>
            <a:pPr algn="ctr">
              <a:spcBef>
                <a:spcPts val="400"/>
              </a:spcBef>
            </a:pPr>
            <a:r>
              <a:rPr sz="1200">
                <a:solidFill>
                  <a:srgbClr val="12355B"/>
                </a:solidFill>
              </a:rPr>
              <a:t>Validate back</a:t>
            </a:r>
            <a:br/>
            <a:r>
              <a:rPr sz="1200">
                <a:solidFill>
                  <a:srgbClr val="12355B"/>
                </a:solidFill>
              </a:rPr>
              <a:t>against RTL</a:t>
            </a:r>
          </a:p>
        </p:txBody>
      </p:sp>
      <p:sp>
        <p:nvSpPr>
          <p:cNvPr id="17" name="Can 16"/>
          <p:cNvSpPr/>
          <p:nvPr/>
        </p:nvSpPr>
        <p:spPr>
          <a:xfrm>
            <a:off x="9820656" y="2084832"/>
            <a:ext cx="109728" cy="274320"/>
          </a:xfrm>
          <a:prstGeom prst="can">
            <a:avLst/>
          </a:prstGeom>
          <a:solidFill>
            <a:srgbClr val="5A66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939528" y="1463040"/>
            <a:ext cx="1783080" cy="1508760"/>
          </a:xfrm>
          <a:prstGeom prst="roundRect">
            <a:avLst/>
          </a:prstGeom>
          <a:solidFill>
            <a:srgbClr val="E8EFF8"/>
          </a:solidFill>
          <a:ln w="15875">
            <a:solidFill>
              <a:srgbClr val="C17D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939528" y="1572768"/>
            <a:ext cx="178308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C17D11"/>
                </a:solidFill>
              </a:rPr>
              <a:t>6. APPLY</a:t>
            </a:r>
          </a:p>
          <a:p>
            <a:pPr algn="ctr">
              <a:spcBef>
                <a:spcPts val="400"/>
              </a:spcBef>
            </a:pPr>
            <a:r>
              <a:rPr sz="1200">
                <a:solidFill>
                  <a:srgbClr val="12355B"/>
                </a:solidFill>
              </a:rPr>
              <a:t>Score 27 combos</a:t>
            </a:r>
            <a:br/>
            <a:r>
              <a:rPr sz="1200">
                <a:solidFill>
                  <a:srgbClr val="12355B"/>
                </a:solidFill>
              </a:rPr>
              <a:t>in milliseconds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3749039"/>
            <a:ext cx="110642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>
                <a:solidFill>
                  <a:srgbClr val="12355B"/>
                </a:solidFill>
              </a:rPr>
              <a:t>Steps 2 and 3 are different experiments. Step 2 asks "is the answer correct?"  Step 3 asks "how much traffic and time did it cost?"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12355B"/>
                </a:solidFill>
              </a:rPr>
              <a:t>Steps 4 and 5 form a loop: the model is built from measured hardware, then tested back against it.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12355B"/>
                </a:solidFill>
              </a:rPr>
              <a:t>Only step 6 runs without RTL - that is the point of the analytical framework.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5532120"/>
            <a:ext cx="11064240" cy="777240"/>
          </a:xfrm>
          <a:prstGeom prst="roundRect">
            <a:avLst/>
          </a:prstGeom>
          <a:solidFill>
            <a:srgbClr val="1235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My contribution is step 1 (the measurable knobs) and steps 4-6 (the analytical framework).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4D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rIns="365760"/>
          <a:lstStyle/>
          <a:p>
            <a:pPr algn="l"/>
            <a:r>
              <a:rPr sz="3000" b="1">
                <a:solidFill>
                  <a:srgbClr val="FFFFFF"/>
                </a:solidFill>
              </a:rPr>
              <a:t>Where Every Number Comes From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i="1">
                <a:solidFill>
                  <a:srgbClr val="5A6672"/>
                </a:solidFill>
              </a:rPr>
              <a:t>Three kinds of numbers appear in this work. They are labelled everywhere, and they are not mixed.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783080"/>
          <a:ext cx="11064240" cy="265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3657600"/>
                <a:gridCol w="3291840"/>
                <a:gridCol w="2560320"/>
              </a:tblGrid>
              <a:tr h="66294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</a:rPr>
                        <a:t>Type</a:t>
                      </a:r>
                    </a:p>
                  </a:txBody>
                  <a:tcPr>
                    <a:solidFill>
                      <a:srgbClr val="0B4DA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What it is</a:t>
                      </a:r>
                    </a:p>
                  </a:txBody>
                  <a:tcPr>
                    <a:solidFill>
                      <a:srgbClr val="0B4DA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Where it appears</a:t>
                      </a:r>
                    </a:p>
                  </a:txBody>
                  <a:tcPr>
                    <a:solidFill>
                      <a:srgbClr val="0B4DA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How strong</a:t>
                      </a:r>
                    </a:p>
                  </a:txBody>
                  <a:tcPr>
                    <a:solidFill>
                      <a:srgbClr val="0B4DA2"/>
                    </a:solidFill>
                  </a:tcPr>
                </a:tc>
              </a:tr>
              <a:tr h="66294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355B"/>
                          </a:solidFill>
                        </a:rPr>
                        <a:t>MEASURED</a:t>
                      </a:r>
                    </a:p>
                    <a:p>
                      <a:pPr algn="l"/>
                      <a:r>
                        <a:rPr sz="1300" b="0">
                          <a:solidFill>
                            <a:srgbClr val="12355B"/>
                          </a:solidFill>
                        </a:rPr>
                        <a:t>(RTL)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2355B"/>
                          </a:solidFill>
                        </a:rPr>
                        <a:t>Real Verilator runs: cycles, AXI beats,</a:t>
                      </a:r>
                    </a:p>
                    <a:p>
                      <a:pPr algn="ctr"/>
                      <a:r>
                        <a:rPr sz="1300" b="0">
                          <a:solidFill>
                            <a:srgbClr val="12355B"/>
                          </a:solidFill>
                        </a:rPr>
                        <a:t>read bursts, output values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2355B"/>
                          </a:solidFill>
                        </a:rPr>
                        <a:t>Golden check - 22 verified</a:t>
                      </a:r>
                    </a:p>
                    <a:p>
                      <a:pPr algn="ctr"/>
                      <a:r>
                        <a:rPr sz="1300" b="0">
                          <a:solidFill>
                            <a:srgbClr val="12355B"/>
                          </a:solidFill>
                        </a:rPr>
                        <a:t>configurations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2355B"/>
                          </a:solidFill>
                        </a:rPr>
                        <a:t>Hard evidence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6294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355B"/>
                          </a:solidFill>
                        </a:rPr>
                        <a:t>MODEL</a:t>
                      </a:r>
                    </a:p>
                  </a:txBody>
                  <a:tcPr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2355B"/>
                          </a:solidFill>
                        </a:rPr>
                        <a:t>Closed-form predictions from my</a:t>
                      </a:r>
                    </a:p>
                    <a:p>
                      <a:pPr algn="ctr"/>
                      <a:r>
                        <a:rPr sz="1300" b="0">
                          <a:solidFill>
                            <a:srgbClr val="12355B"/>
                          </a:solidFill>
                        </a:rPr>
                        <a:t>analytical framework</a:t>
                      </a:r>
                    </a:p>
                  </a:txBody>
                  <a:tcPr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2355B"/>
                          </a:solidFill>
                        </a:rPr>
                        <a:t>The chooser; the edge / cloud</a:t>
                      </a:r>
                    </a:p>
                    <a:p>
                      <a:pPr algn="ctr"/>
                      <a:r>
                        <a:rPr sz="1300" b="0">
                          <a:solidFill>
                            <a:srgbClr val="12355B"/>
                          </a:solidFill>
                        </a:rPr>
                        <a:t>design-space study</a:t>
                      </a:r>
                    </a:p>
                  </a:txBody>
                  <a:tcPr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2355B"/>
                          </a:solidFill>
                        </a:rPr>
                        <a:t>Validated against</a:t>
                      </a:r>
                    </a:p>
                    <a:p>
                      <a:pPr algn="ctr"/>
                      <a:r>
                        <a:rPr sz="1300" b="0">
                          <a:solidFill>
                            <a:srgbClr val="12355B"/>
                          </a:solidFill>
                        </a:rPr>
                        <a:t>the measured set</a:t>
                      </a:r>
                    </a:p>
                  </a:txBody>
                  <a:tcPr>
                    <a:solidFill>
                      <a:srgbClr val="E8EFF8"/>
                    </a:solidFill>
                  </a:tcPr>
                </a:tc>
              </a:tr>
              <a:tr h="66294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355B"/>
                          </a:solidFill>
                        </a:rPr>
                        <a:t>ASSUMED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2355B"/>
                          </a:solidFill>
                        </a:rPr>
                        <a:t>Literature constants</a:t>
                      </a:r>
                    </a:p>
                    <a:p>
                      <a:pPr algn="ctr"/>
                      <a:r>
                        <a:rPr sz="1300" b="0">
                          <a:solidFill>
                            <a:srgbClr val="12355B"/>
                          </a:solidFill>
                        </a:rPr>
                        <a:t>(DRAM 560 pJ/byte, MAC 0.5 pJ)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2355B"/>
                          </a:solidFill>
                        </a:rPr>
                        <a:t>Energy figures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2355B"/>
                          </a:solidFill>
                        </a:rPr>
                        <a:t>Cited, listed in</a:t>
                      </a:r>
                    </a:p>
                    <a:p>
                      <a:pPr algn="ctr"/>
                      <a:r>
                        <a:rPr sz="1300" b="0">
                          <a:solidFill>
                            <a:srgbClr val="12355B"/>
                          </a:solidFill>
                        </a:rPr>
                        <a:t>the appendix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4709160"/>
            <a:ext cx="110642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>
                <a:solidFill>
                  <a:srgbClr val="12355B"/>
                </a:solidFill>
              </a:rPr>
              <a:t>The large-network results (ResNet-50, BERT-Large, DLRM, VGG-16) are MODEL, never RTL. Every such chart is captioned that way.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12355B"/>
                </a:solidFill>
              </a:rPr>
              <a:t>Energy is a model quantity: RTL gives no power number. But its main input - off-chip bytes - is validated exactly, so relative energy comparisons inherit that accuracy.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4D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rIns="365760"/>
          <a:lstStyle/>
          <a:p>
            <a:pPr algn="l"/>
            <a:r>
              <a:rPr sz="3000" b="1">
                <a:solidFill>
                  <a:srgbClr val="FFFFFF"/>
                </a:solidFill>
              </a:rPr>
              <a:t>Why Large Networks Are Not Run in RTL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>
                <a:solidFill>
                  <a:srgbClr val="12355B"/>
                </a:solidFill>
              </a:rPr>
              <a:t>RTL simulation runs cycle by cycle - about 10,000 simulated cycles per second. A faster machine changes this by 2-5x, not by orders of magnitude.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371600" y="2194560"/>
          <a:ext cx="941832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/>
                <a:gridCol w="1828800"/>
                <a:gridCol w="2103120"/>
              </a:tblGrid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</a:rPr>
                        <a:t>Task</a:t>
                      </a:r>
                    </a:p>
                  </a:txBody>
                  <a:tcPr>
                    <a:solidFill>
                      <a:srgbClr val="0B4DA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Cycles</a:t>
                      </a:r>
                    </a:p>
                  </a:txBody>
                  <a:tcPr>
                    <a:solidFill>
                      <a:srgbClr val="0B4DA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RTL time</a:t>
                      </a:r>
                    </a:p>
                  </a:txBody>
                  <a:tcPr>
                    <a:solidFill>
                      <a:srgbClr val="0B4DA2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2355B"/>
                          </a:solidFill>
                        </a:rPr>
                        <a:t>tiny_cnn layer_00, one configuration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2355B"/>
                          </a:solidFill>
                        </a:rPr>
                        <a:t>5,808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2355B"/>
                          </a:solidFill>
                        </a:rPr>
                        <a:t>1.3 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2355B"/>
                          </a:solidFill>
                        </a:rPr>
                        <a:t>One BERT-Large layer, one configuration</a:t>
                      </a:r>
                    </a:p>
                  </a:txBody>
                  <a:tcPr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2355B"/>
                          </a:solidFill>
                        </a:rPr>
                        <a:t>~95 M</a:t>
                      </a:r>
                    </a:p>
                  </a:txBody>
                  <a:tcPr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2355B"/>
                          </a:solidFill>
                        </a:rPr>
                        <a:t>~2.6 hours</a:t>
                      </a:r>
                    </a:p>
                  </a:txBody>
                  <a:tcPr>
                    <a:solidFill>
                      <a:srgbClr val="E8EFF8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2355B"/>
                          </a:solidFill>
                        </a:rPr>
                        <a:t>The same layer x 27 combinations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2355B"/>
                          </a:solidFill>
                        </a:rPr>
                        <a:t>~3 months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2355B"/>
                          </a:solidFill>
                        </a:rPr>
                        <a:t>56 evaluation layers x 27 combinations</a:t>
                      </a:r>
                    </a:p>
                  </a:txBody>
                  <a:tcPr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2355B"/>
                          </a:solidFill>
                        </a:rPr>
                        <a:t>years of compute</a:t>
                      </a:r>
                    </a:p>
                  </a:txBody>
                  <a:tcPr>
                    <a:solidFill>
                      <a:srgbClr val="E8EFF8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548640" y="4343400"/>
            <a:ext cx="11064240" cy="2240280"/>
          </a:xfrm>
          <a:prstGeom prst="roundRect">
            <a:avLst/>
          </a:prstGeom>
          <a:solidFill>
            <a:srgbClr val="E8EFF8"/>
          </a:solidFill>
          <a:ln w="19050">
            <a:solidFill>
              <a:srgbClr val="0B4D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82880"/>
          <a:lstStyle/>
          <a:p>
            <a:pPr algn="ctr"/>
            <a:r>
              <a:rPr sz="1800" b="1">
                <a:solidFill>
                  <a:srgbClr val="12355B"/>
                </a:solidFill>
              </a:rPr>
              <a:t>This is not a limitation of my setup - RTL simulation does not scale to design-space exploration, by construction.</a:t>
            </a:r>
          </a:p>
          <a:p>
            <a:r>
              <a:rPr sz="1700">
                <a:solidFill>
                  <a:srgbClr val="12355B"/>
                </a:solidFill>
              </a:rPr>
              <a:t>That is exactly why the analytical framework is needed. It scores 27 combinations in about 1 millisecond, against a &gt;= 147 s lower bound for the equivalent RTL sweep on the smallest layer - roughly 100,000x faster.</a:t>
            </a:r>
          </a:p>
          <a:p>
            <a:pPr>
              <a:spcBef>
                <a:spcPts val="600"/>
              </a:spcBef>
            </a:pPr>
            <a:r>
              <a:rPr sz="1600">
                <a:solidFill>
                  <a:srgbClr val="0F7B6C"/>
                </a:solidFill>
              </a:rPr>
              <a:t>And it is not needed: weights never affect cycles or traffic, so only workload dimensions matter. Bigger networks repeat the same validated computation more times.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4D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rIns="365760"/>
          <a:lstStyle/>
          <a:p>
            <a:pPr algn="l"/>
            <a:r>
              <a:rPr sz="3000" b="1">
                <a:solidFill>
                  <a:srgbClr val="FFFFFF"/>
                </a:solidFill>
              </a:rPr>
              <a:t>Verification - RTL Output vs TensorFlow Golden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325880"/>
            <a:ext cx="2606040" cy="1645920"/>
          </a:xfrm>
          <a:prstGeom prst="roundRect">
            <a:avLst/>
          </a:prstGeom>
          <a:solidFill>
            <a:srgbClr val="E8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26060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0B4DA2"/>
                </a:solidFill>
              </a:rPr>
              <a:t>22 / 22</a:t>
            </a:r>
          </a:p>
          <a:p>
            <a:pPr algn="ctr">
              <a:spcBef>
                <a:spcPts val="200"/>
              </a:spcBef>
            </a:pPr>
            <a:r>
              <a:rPr sz="1200">
                <a:solidFill>
                  <a:srgbClr val="12355B"/>
                </a:solidFill>
              </a:rPr>
              <a:t>configurations</a:t>
            </a:r>
            <a:br/>
            <a:r>
              <a:rPr sz="1200">
                <a:solidFill>
                  <a:srgbClr val="12355B"/>
                </a:solidFill>
              </a:rPr>
              <a:t>verified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74720" y="1325880"/>
            <a:ext cx="2606040" cy="1645920"/>
          </a:xfrm>
          <a:prstGeom prst="roundRect">
            <a:avLst/>
          </a:prstGeom>
          <a:solidFill>
            <a:srgbClr val="E8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474720" y="1463040"/>
            <a:ext cx="26060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0B4DA2"/>
                </a:solidFill>
              </a:rPr>
              <a:t>0.0499 %</a:t>
            </a:r>
          </a:p>
          <a:p>
            <a:pPr algn="ctr">
              <a:spcBef>
                <a:spcPts val="200"/>
              </a:spcBef>
            </a:pPr>
            <a:r>
              <a:rPr sz="1200">
                <a:solidFill>
                  <a:srgbClr val="12355B"/>
                </a:solidFill>
              </a:rPr>
              <a:t>worst output</a:t>
            </a:r>
            <a:br/>
            <a:r>
              <a:rPr sz="1200">
                <a:solidFill>
                  <a:srgbClr val="12355B"/>
                </a:solidFill>
              </a:rPr>
              <a:t>error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325880"/>
            <a:ext cx="2606040" cy="1645920"/>
          </a:xfrm>
          <a:prstGeom prst="roundRect">
            <a:avLst/>
          </a:prstGeom>
          <a:solidFill>
            <a:srgbClr val="E8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09360" y="1463040"/>
            <a:ext cx="26060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0B4DA2"/>
                </a:solidFill>
              </a:rPr>
              <a:t>5 %</a:t>
            </a:r>
          </a:p>
          <a:p>
            <a:pPr algn="ctr">
              <a:spcBef>
                <a:spcPts val="200"/>
              </a:spcBef>
            </a:pPr>
            <a:r>
              <a:rPr sz="1200">
                <a:solidFill>
                  <a:srgbClr val="12355B"/>
                </a:solidFill>
              </a:rPr>
              <a:t>tolerance</a:t>
            </a:r>
            <a:br/>
            <a:r>
              <a:rPr sz="1200">
                <a:solidFill>
                  <a:srgbClr val="12355B"/>
                </a:solidFill>
              </a:rPr>
              <a:t>gate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0" y="1325880"/>
            <a:ext cx="2606040" cy="1645920"/>
          </a:xfrm>
          <a:prstGeom prst="roundRect">
            <a:avLst/>
          </a:prstGeom>
          <a:solidFill>
            <a:srgbClr val="E8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0" y="1463040"/>
            <a:ext cx="26060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0B4DA2"/>
                </a:solidFill>
              </a:rPr>
              <a:t>~100x</a:t>
            </a:r>
          </a:p>
          <a:p>
            <a:pPr algn="ctr">
              <a:spcBef>
                <a:spcPts val="200"/>
              </a:spcBef>
            </a:pPr>
            <a:r>
              <a:rPr sz="1200">
                <a:solidFill>
                  <a:srgbClr val="12355B"/>
                </a:solidFill>
              </a:rPr>
              <a:t>safety margin</a:t>
            </a:r>
            <a:br/>
            <a:r>
              <a:rPr sz="1200">
                <a:solidFill>
                  <a:srgbClr val="12355B"/>
                </a:solidFill>
              </a:rPr>
              <a:t>inside tolerance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035808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i="1">
                <a:solidFill>
                  <a:srgbClr val="12355B"/>
                </a:solidFill>
              </a:rPr>
              <a:t>Sample evidence - 2 of the 22 verified configurations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40080" y="3383280"/>
          <a:ext cx="1088136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31920"/>
                <a:gridCol w="1828800"/>
                <a:gridCol w="1737360"/>
                <a:gridCol w="1645920"/>
                <a:gridCol w="1737360"/>
              </a:tblGrid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</a:rPr>
                        <a:t>Configuration</a:t>
                      </a:r>
                    </a:p>
                  </a:txBody>
                  <a:tcPr>
                    <a:solidFill>
                      <a:srgbClr val="0B4DA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Measured (RTL)</a:t>
                      </a:r>
                    </a:p>
                  </a:txBody>
                  <a:tcPr>
                    <a:solidFill>
                      <a:srgbClr val="0B4DA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Golden (TF)</a:t>
                      </a:r>
                    </a:p>
                  </a:txBody>
                  <a:tcPr>
                    <a:solidFill>
                      <a:srgbClr val="0B4DA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Error (% FS)</a:t>
                      </a:r>
                    </a:p>
                  </a:txBody>
                  <a:tcPr>
                    <a:solidFill>
                      <a:srgbClr val="0B4DA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Result</a:t>
                      </a:r>
                    </a:p>
                  </a:txBody>
                  <a:tcPr>
                    <a:solidFill>
                      <a:srgbClr val="0B4DA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2355B"/>
                          </a:solidFill>
                        </a:rPr>
                        <a:t>tiny_cnn L0 - OS-ChM-Multicast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2355B"/>
                          </a:solidFill>
                        </a:rPr>
                        <a:t>0.709772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2355B"/>
                          </a:solidFill>
                        </a:rPr>
                        <a:t>0.710062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2355B"/>
                          </a:solidFill>
                        </a:rPr>
                        <a:t>0.01 %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2355B"/>
                          </a:solidFill>
                        </a:rPr>
                        <a:t>PASS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2355B"/>
                          </a:solidFill>
                        </a:rPr>
                        <a:t>mnist_cnn L2 - OS-ChM-Multicast</a:t>
                      </a:r>
                    </a:p>
                  </a:txBody>
                  <a:tcPr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2355B"/>
                          </a:solidFill>
                        </a:rPr>
                        <a:t>-2.005136</a:t>
                      </a:r>
                    </a:p>
                  </a:txBody>
                  <a:tcPr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2355B"/>
                          </a:solidFill>
                        </a:rPr>
                        <a:t>-2.006291</a:t>
                      </a:r>
                    </a:p>
                  </a:txBody>
                  <a:tcPr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2355B"/>
                          </a:solidFill>
                        </a:rPr>
                        <a:t>0.05 %</a:t>
                      </a:r>
                    </a:p>
                  </a:txBody>
                  <a:tcPr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2355B"/>
                          </a:solidFill>
                        </a:rPr>
                        <a:t>PASS</a:t>
                      </a:r>
                    </a:p>
                  </a:txBody>
                  <a:tcPr>
                    <a:solidFill>
                      <a:srgbClr val="E8EFF8"/>
                    </a:solidFill>
                  </a:tcPr>
                </a:tc>
              </a:tr>
            </a:tbl>
          </a:graphicData>
        </a:graphic>
      </p:graphicFrame>
      <p:sp>
        <p:nvSpPr>
          <p:cNvPr id="13" name="Rounded Rectangle 12"/>
          <p:cNvSpPr/>
          <p:nvPr/>
        </p:nvSpPr>
        <p:spPr>
          <a:xfrm>
            <a:off x="640080" y="4754880"/>
            <a:ext cx="10881360" cy="1417320"/>
          </a:xfrm>
          <a:prstGeom prst="roundRect">
            <a:avLst/>
          </a:prstGeom>
          <a:solidFill>
            <a:srgbClr val="1235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37160"/>
          <a:lstStyle/>
          <a:p>
            <a:pPr algn="ctr"/>
            <a:r>
              <a:rPr sz="1800" b="1">
                <a:solidFill>
                  <a:srgbClr val="FFFFFF"/>
                </a:solidFill>
              </a:rPr>
              <a:t>Every configuration computes the mathematically correct answer, with roughly 100x margin inside tolerance.</a:t>
            </a:r>
          </a:p>
          <a:p>
            <a:pPr algn="ctr"/>
            <a:r>
              <a:rPr sz="1400">
                <a:solidFill>
                  <a:srgbClr val="FFFFFF"/>
                </a:solidFill>
              </a:rPr>
              <a:t>Verified across all 3 stationary schemes, all 3 memory layouts, all 3 casting schemes, both memory backends (STAMP / PAGED) and three array geometries (8x8, 8x2, 8x1).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26364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
                  <a:srgbClr val="C17D11"/>
                </a:solidFill>
              </a:rPr>
              <a:t>CORRECTION vs the earlier deck: this said "29 workloads". 29 is the raw file count including 7 debug probe runs (worst error 106 %). The verified set is 22 CONFIGURATIONS built from 5 layer shapes - and "configuration" is the correct word, not "workload".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4D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rIns="365760"/>
          <a:lstStyle/>
          <a:p>
            <a:pPr algn="l"/>
            <a:r>
              <a:rPr sz="3000" b="1">
                <a:solidFill>
                  <a:srgbClr val="FFFFFF"/>
                </a:solidFill>
              </a:rPr>
              <a:t>What Generalises - and What Does Not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371600"/>
            <a:ext cx="5440680" cy="3657600"/>
          </a:xfrm>
          <a:prstGeom prst="roundRect">
            <a:avLst/>
          </a:prstGeom>
          <a:solidFill>
            <a:srgbClr val="E8EFF8"/>
          </a:solidFill>
          <a:ln w="15875">
            <a:solidFill>
              <a:srgbClr val="0F7B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81328"/>
            <a:ext cx="54406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F7B6C"/>
                </a:solidFill>
              </a:rPr>
              <a:t>WHAT GENERALISES</a:t>
            </a:r>
          </a:p>
          <a:p>
            <a:pPr algn="l">
              <a:spcAft>
                <a:spcPts val="900"/>
              </a:spcAft>
            </a:pPr>
            <a:r>
              <a:rPr sz="1400">
                <a:solidFill>
                  <a:srgbClr val="12355B"/>
                </a:solidFill>
              </a:rPr>
              <a:t>- The framework decides from workload GEOMETRY, not from the trained model. Weight values never affect cycles or traffic.</a:t>
            </a:r>
          </a:p>
          <a:p>
            <a:pPr algn="l">
              <a:spcAft>
                <a:spcPts val="900"/>
              </a:spcAft>
            </a:pPr>
            <a:r>
              <a:rPr sz="1400">
                <a:solidFill>
                  <a:srgbClr val="12355B"/>
                </a:solidFill>
              </a:rPr>
              <a:t>- All three stationary schemes, all three layouts, all three casting schemes and three array sizes are covered by measurement.</a:t>
            </a:r>
          </a:p>
          <a:p>
            <a:pPr algn="l">
              <a:spcAft>
                <a:spcPts val="900"/>
              </a:spcAft>
            </a:pPr>
            <a:r>
              <a:rPr sz="1400">
                <a:solidFill>
                  <a:srgbClr val="12355B"/>
                </a:solidFill>
              </a:rPr>
              <a:t>- The traffic model has NO fitted constants and matches measured beats exactly on 17 of 19 runs - including array widths it was never fitted to.</a:t>
            </a:r>
          </a:p>
          <a:p>
            <a:pPr algn="l">
              <a:spcAft>
                <a:spcPts val="900"/>
              </a:spcAft>
            </a:pPr>
            <a:r>
              <a:rPr sz="1400">
                <a:solidFill>
                  <a:srgbClr val="12355B"/>
                </a:solidFill>
              </a:rPr>
              <a:t>- K and output size enter as loop counts, so bigger networks repeat a validated computation more times.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99632" y="1371600"/>
            <a:ext cx="5440680" cy="3657600"/>
          </a:xfrm>
          <a:prstGeom prst="roundRect">
            <a:avLst/>
          </a:prstGeom>
          <a:solidFill>
            <a:srgbClr val="E8EFF8"/>
          </a:solidFill>
          <a:ln w="15875">
            <a:solidFill>
              <a:srgbClr val="C17D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99632" y="1481328"/>
            <a:ext cx="54406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C17D11"/>
                </a:solidFill>
              </a:rPr>
              <a:t>HONEST LIMITS</a:t>
            </a:r>
          </a:p>
          <a:p>
            <a:pPr algn="l">
              <a:spcAft>
                <a:spcPts val="900"/>
              </a:spcAft>
            </a:pPr>
            <a:r>
              <a:rPr sz="1400">
                <a:solidFill>
                  <a:srgbClr val="12355B"/>
                </a:solidFill>
              </a:rPr>
              <a:t>- The RTL sweep varies ONE knob at a time. Each knob's own effect is measured; knob interactions are composed analytically, not measured.</a:t>
            </a:r>
          </a:p>
          <a:p>
            <a:pPr algn="l">
              <a:spcAft>
                <a:spcPts val="900"/>
              </a:spcAft>
            </a:pPr>
            <a:r>
              <a:rPr sz="1400">
                <a:solidFill>
                  <a:srgbClr val="12355B"/>
                </a:solidFill>
              </a:rPr>
              <a:t>- The compute term is interpolated for layer shapes with no measured run - it cannot change the layout or casting choice, but it can affect the stationary-scheme choice.</a:t>
            </a:r>
          </a:p>
          <a:p>
            <a:pPr algn="l">
              <a:spcAft>
                <a:spcPts val="900"/>
              </a:spcAft>
            </a:pPr>
            <a:r>
              <a:rPr sz="1400">
                <a:solidFill>
                  <a:srgbClr val="12355B"/>
                </a:solidFill>
              </a:rPr>
              <a:t>- Energy is a model quantity; RTL produces no power number.</a:t>
            </a:r>
          </a:p>
          <a:p>
            <a:pPr algn="l">
              <a:spcAft>
                <a:spcPts val="900"/>
              </a:spcAft>
            </a:pPr>
            <a:r>
              <a:rPr sz="1400">
                <a:solidFill>
                  <a:srgbClr val="12355B"/>
                </a:solidFill>
              </a:rPr>
              <a:t>- Depthwise / grouped convolution is outside the current model.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5257800"/>
            <a:ext cx="11091672" cy="960120"/>
          </a:xfrm>
          <a:prstGeom prst="roundRect">
            <a:avLst/>
          </a:prstGeom>
          <a:solidFill>
            <a:srgbClr val="1235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/>
          <a:lstStyle/>
          <a:p>
            <a:pPr algn="ctr"/>
            <a:r>
              <a:rPr sz="1700" b="1">
                <a:solidFill>
                  <a:srgbClr val="FFFFFF"/>
                </a:solidFill>
              </a:rPr>
              <a:t>Claim made: validated for workload-based behaviour across every axis the framework selects over - not for every DNN model.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4D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rIns="365760"/>
          <a:lstStyle/>
          <a:p>
            <a:pPr algn="l"/>
            <a:r>
              <a:rPr sz="3000" b="1">
                <a:solidFill>
                  <a:srgbClr val="FFFFFF"/>
                </a:solidFill>
              </a:rPr>
              <a:t>Module 01 -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0B4DA2"/>
                </a:solidFill>
              </a:rPr>
              <a:t>Contribution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783080"/>
            <a:ext cx="110642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>
                <a:solidFill>
                  <a:srgbClr val="12355B"/>
                </a:solidFill>
              </a:rPr>
              <a:t>Made stationary scheme, memory layout and casting scheme simultaneously selectable and measurable in cycle-accurate RTL - 27 configurations from one module. No existing tool allows this.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12355B"/>
                </a:solidFill>
              </a:rPr>
              <a:t>Distilled the measured behaviour into an analytical framework that picks the best of the 27 in milliseconds.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20040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0B4DA2"/>
                </a:solidFill>
              </a:rPr>
              <a:t>Key findings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3703320"/>
          <a:ext cx="11091672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20640"/>
                <a:gridCol w="5971032"/>
              </a:tblGrid>
              <a:tr h="38100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</a:rPr>
                        <a:t>Finding</a:t>
                      </a:r>
                    </a:p>
                  </a:txBody>
                  <a:tcPr>
                    <a:solidFill>
                      <a:srgbClr val="0B4DA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Evidence</a:t>
                      </a:r>
                    </a:p>
                  </a:txBody>
                  <a:tcPr>
                    <a:solidFill>
                      <a:srgbClr val="0B4DA2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2355B"/>
                          </a:solidFill>
                        </a:rPr>
                        <a:t>Casting is the biggest lever on off-chip traffic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2355B"/>
                          </a:solidFill>
                        </a:rPr>
                        <a:t>1,836 -&gt; 11,664 -&gt; 20,736 beats (11.3x)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2355B"/>
                          </a:solidFill>
                        </a:rPr>
                        <a:t>Layout changes REQUESTS, not data volume</a:t>
                      </a:r>
                    </a:p>
                  </a:txBody>
                  <a:tcPr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2355B"/>
                          </a:solidFill>
                        </a:rPr>
                        <a:t>same 1,836 beats; 138 vs 1,794 bursts; 1.86x faster</a:t>
                      </a:r>
                    </a:p>
                  </a:txBody>
                  <a:tcPr>
                    <a:solidFill>
                      <a:srgbClr val="E8EFF8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2355B"/>
                          </a:solidFill>
                        </a:rPr>
                        <a:t>Runtime follows an exact law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2355B"/>
                          </a:solidFill>
                        </a:rPr>
                        <a:t>cycles = 3 x bursts + 2 x beats + compute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2355B"/>
                          </a:solidFill>
                        </a:rPr>
                        <a:t>Input-stationary is fastest on real hardware</a:t>
                      </a:r>
                    </a:p>
                  </a:txBody>
                  <a:tcPr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2355B"/>
                          </a:solidFill>
                        </a:rPr>
                        <a:t>5,220 vs 5,808 cycles; the model agrees</a:t>
                      </a:r>
                    </a:p>
                  </a:txBody>
                  <a:tcPr>
                    <a:solidFill>
                      <a:srgbClr val="E8EFF8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2355B"/>
                          </a:solidFill>
                        </a:rPr>
                        <a:t>Prediction accuracy vs measured RTL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2355B"/>
                          </a:solidFill>
                        </a:rPr>
                        <a:t>traffic exact 17/19; cycles 0.84 % mean; 0 ranking inversions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612648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i="1">
                <a:solidFill>
                  <a:srgbClr val="5A6672"/>
                </a:solidFill>
              </a:rPr>
              <a:t>All evidence: results/golden_check/ (measured RTL) and results/chooser/ (model). Reproducible in results/thesis_notebook/chooser_validation.ipynb.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